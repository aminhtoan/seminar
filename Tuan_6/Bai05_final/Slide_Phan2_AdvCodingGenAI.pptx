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2: Từ Cơ Bản Đến Nâng Cao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Về Gợi Ý LLM Cho Lập Trình GenAI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6 → 11 | Bài 05 – AdvCodingGenAI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Supercharged Coding with GenAI – Phần 2 (Ch.6–11)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 Học – Phần 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828800" cy="1280160"/>
          </a:xfrm>
          <a:prstGeom prst="rect">
            <a:avLst>
              <a:gd name="adj" fmla="val 7143"/>
            </a:avLst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417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Internals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7373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0A4AE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1371600"/>
            <a:ext cx="1828800" cy="1280160"/>
          </a:xfrm>
          <a:prstGeom prst="rect">
            <a:avLst>
              <a:gd name="adj" fmla="val 7143"/>
            </a:avLst>
          </a:prstGeom>
          <a:solidFill>
            <a:srgbClr val="00695C"/>
          </a:solidFill>
          <a:ln/>
        </p:spPr>
      </p:sp>
      <p:sp>
        <p:nvSpPr>
          <p:cNvPr id="10" name="Text 8"/>
          <p:cNvSpPr/>
          <p:nvPr/>
        </p:nvSpPr>
        <p:spPr>
          <a:xfrm>
            <a:off x="2377440" y="1417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377440" y="1920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Reading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0" y="17373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0A4AE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37744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/explain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1371600"/>
            <a:ext cx="1828800" cy="1280160"/>
          </a:xfrm>
          <a:prstGeom prst="rect">
            <a:avLst>
              <a:gd name="adj" fmla="val 7143"/>
            </a:avLst>
          </a:prstGeom>
          <a:solidFill>
            <a:srgbClr val="6A1B9A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1417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480560" y="1920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17373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0A4AE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48056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S's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0" y="1371600"/>
            <a:ext cx="1828800" cy="1280160"/>
          </a:xfrm>
          <a:prstGeom prst="rect">
            <a:avLst>
              <a:gd name="adj" fmla="val 7143"/>
            </a:avLst>
          </a:prstGeom>
          <a:solidFill>
            <a:srgbClr val="E6510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1417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83680" y="1920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0" y="17373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0A4AE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8368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686800" y="1371600"/>
            <a:ext cx="1828800" cy="1280160"/>
          </a:xfrm>
          <a:prstGeom prst="rect">
            <a:avLst>
              <a:gd name="adj" fmla="val 7143"/>
            </a:avLst>
          </a:prstGeom>
          <a:solidFill>
            <a:srgbClr val="2E7D32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0" y="1417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686800" y="1920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Đằng Sau Hậu Trường: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ChatGPT &amp; LLM Hoạt Động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Models → Word2Vec → Transformer Architecture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 Trình Từ Chữ Cái Đến LLM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0292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1: Tần suất đơn (1-gram) → output vô nghĩa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2: Xác suất có điều kiện (bigram) → cải thiện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3: Context 4-6 chữ → từ tiếng Anh xuất hiện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(2013): vector nhúng từ, semantic similarity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(2017): 'Attention is All You Need' – Google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huấn luyện trên hàng nghìn tỷ tokens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trọng: LLM không 'hiểu' – chỉ học xác suất thống kê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212080" y="914400"/>
            <a:ext cx="374904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1005840"/>
            <a:ext cx="3566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Xác suất có điều kiện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p(u|q) = 90.3%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p(next|context)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defaultdict(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lambda: defaultdict(int)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range(len(text)-1):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ctx = text[i:i+n]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nxt = text[i+n]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model[ctx][nxt] += 1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Kết quả với n=6: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'the pro' → 'g'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'program' → 'm'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Gần giống tiếng Anh!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Cải Thiện Đầu Ra LLM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411480"/>
          </a:xfrm>
          <a:prstGeom prst="rect">
            <a:avLst>
              <a:gd name="adj" fmla="val 13333"/>
            </a:avLst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thuật nhẹ (không train lại)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Engineering: tối ưu câu lệnh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Window: thêm tài liệu vào prompt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Learning: cung cấp 2-5 ví dụ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tìm thông tin từ database ngoài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114800" cy="411480"/>
          </a:xfrm>
          <a:prstGeom prst="rect">
            <a:avLst>
              <a:gd name="adj" fmla="val 13333"/>
            </a:avLst>
          </a:prstGeom>
          <a:solidFill>
            <a:srgbClr val="0D47A1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914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thuật nặng (có train lại)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37160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Fine-Tuning: huấn luyện thêm trên data chuyên biệt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Tốn chi phí setup nhưng giảm chi phí inference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≥10 examples (khuyến nghị ≥50)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dùng khi few-shot không đủ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và Hiểu Cơ Sở Mã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 GenAI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/explain, ChatGPT, OpenAI API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Chiến Lược Đọc Codebase Mới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0292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đầu từ entry point: app.py, main.py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requirements.txt: hiểu dependencies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Dockerfile: hiểu môi trường chạy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README.md: hiểu use case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/explain: giải thích hàm tức thì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/explain argument types: phân tích kiểu tham số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@workspace /explain: giải thích trong context toàn bộ project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ChatGPT: paste code + hỏi về architecture tổng thể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212080" y="914400"/>
            <a:ext cx="374904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1005840"/>
            <a:ext cx="3566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Manhattan Distance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get_manhattan_distance(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df1: pd.DataFrame,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df2: pd.DataFrame,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np.float64: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Bước 1: hiệu element-wise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diff = (df1 - df2).abs()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Bước 2: tổng tất cả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float(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diff.sum().sum()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Ví dụ Pacman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A=(1,1), B=(3,2)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dist = |3-1|+|2-1| = 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Không có đường chéo!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 Kỹ Thuật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 (Prompt Engineering)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S's Framework • Few-Shot Learning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Khung Five S's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0292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Structured: CONTEXT / TASK / CUE rõ ràng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Surrounded: code/data trong {{{ }}}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Single-tasked: mỗi prompt = một việc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Specific: mô tả chi tiết, không mơ hồ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Short: loại bỏ thông tin không cần thiết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Few-Shot: 0-shot → 1-shot → few-shot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Cung cấp ví dụ input-output trực tiếp trong prompt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dụng: refactor style, docstring, unit test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212080" y="914400"/>
            <a:ext cx="374904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1005840"/>
            <a:ext cx="3566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You are provided with: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Python snippet {{{ OLD }}}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Examples {{{ OLD_i }}} → {{{ REF_i }}}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TASK: Refactor print to logger.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OLD_1: {{{ print('Started') }}}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REF_1: {{{ logger.info(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'Started',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extra={'stage': 'start'}) }}}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OLD_2: {{{ print('Warning!') }}}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REF_2: {{{ logger.warning(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'Warning detected') }}}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OLD: {{{ print('Error!') }}}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REFACTORED: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Thuật Gợi Ý Nâng Cao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Lập Trình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Thought (CoT) • Prompt Chaining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Thought – Suy Luận Từng Bước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0292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CoT: hướng dẫn LLM suy luận bước-by-bước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quả với bài toán nhiều logic (portfolio returns)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đề: (-0.21 × 0.43 × -0.35)^(1/3) = 32% ← SAI!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 Step 1: net → gross returns (cộng thêm 1)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 Step 2: geometric mean của gross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 Step 3: gross_avg - 1 = -9.9% ← ĐÚNG!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Chaining: chia nhỏ bài toán thành chuỗi steps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generate code → Step 2: type hints → Step 3: docstring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212080" y="914400"/>
            <a:ext cx="374904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1005840"/>
            <a:ext cx="3566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Prompt Chaining Demo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1: tạo code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get_avg_return(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net_returns: dict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float: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gross = np.array(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list(net_returns.values())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+ 1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power = 1/len(gross)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np.prod(gross)**power - 1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IBM 2000-2002: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-0.2084, 0.43, -0.3547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gross: 0.79, 1.43, 0.65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avg: -9.9% ✓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 32% (naive formula)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Tái Cấu Trúc Mã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 GenAI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Code • DRY Principle • Vectorization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Loại Refactoring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411480"/>
          </a:xfrm>
          <a:prstGeom prst="rect">
            <a:avLst>
              <a:gd name="adj" fmla="val 13333"/>
            </a:avLst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 &amp; Structure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tên biến rõ nghĩa (a → df1)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comment thừa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type hints đầy đủ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→ structured logger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hàm dài → nhiều hàm nhỏ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DRY: parse_matrices()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114800" cy="411480"/>
          </a:xfrm>
          <a:prstGeom prst="rect">
            <a:avLst>
              <a:gd name="adj" fmla="val 13333"/>
            </a:avLst>
          </a:prstGeom>
          <a:solidFill>
            <a:srgbClr val="0D47A1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914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(Vectorization)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37160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loop → NumPy vectorized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→ O(n) operations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100x+ speedup với matrix lớn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+ CoT: hướng dẫn refactor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TRƯỚC khi refactor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tools: Rename, Extract Method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Tinh Chỉnh Mô Hình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 OpenAI (Fine-Tuning)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Training Data • Contrastive Learning • OpenAI Playground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Fine-Tuning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0292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Xác định specialization (ví dụ: code không comment thừa)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Thu thập ≥10 ví dụ (khuyến nghị ≥50 cho kết quả tốt)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Tạo JSONL: {system, user, assistant} messages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Contrastive Learning: ví dụ sai → ví dụ đúng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Upload lên platform.openai.com và tạo fine-tuning job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So sánh fine-tuned model vs base model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Playground: thử nghiệm nhanh, miễn phí tier 1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mới: ft:gpt-4o-mini-2024-07-18:org::job-id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212080" y="914400"/>
            <a:ext cx="374904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1005840"/>
            <a:ext cx="3566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JSONL Format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{"messages":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{"role": "system",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"content": "Return code only."},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{"role": "user",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"content": "FUNCTION: {{{\ndef get_roots(a,b,c)\n}}}\nCODE:"},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{"role": "assistant",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"content":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"discriminant = b**2-4*a*c\nif discriminant &lt; 0:\n    return None\nsqrt_d = discriminant**0.5\nreturn ((-b+sqrt_d)/(2*a),\n        (-b-sqrt_d)/(2*a))"}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]}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Kết &amp; Takeaways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914400" cy="502920"/>
          </a:xfrm>
          <a:prstGeom prst="rect">
            <a:avLst>
              <a:gd name="adj" fmla="val 18182"/>
            </a:avLst>
          </a:prstGeom>
          <a:solidFill>
            <a:srgbClr val="4FC3F7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96012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= xác suất thống kê, không phải "hiểu" ngôn ngữ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914400" cy="502920"/>
          </a:xfrm>
          <a:prstGeom prst="rect">
            <a:avLst>
              <a:gd name="adj" fmla="val 18182"/>
            </a:avLst>
          </a:prstGeom>
          <a:solidFill>
            <a:srgbClr val="4DD0E1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57276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161848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giúp onboard codebase mới nhanh 10x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231136"/>
            <a:ext cx="914400" cy="502920"/>
          </a:xfrm>
          <a:prstGeom prst="rect">
            <a:avLst>
              <a:gd name="adj" fmla="val 18182"/>
            </a:avLst>
          </a:prstGeom>
          <a:solidFill>
            <a:srgbClr val="81C784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231136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2276856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S's + Few-Shot = nền tảng prompt tốt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889504"/>
            <a:ext cx="914400" cy="502920"/>
          </a:xfrm>
          <a:prstGeom prst="rect">
            <a:avLst>
              <a:gd name="adj" fmla="val 18182"/>
            </a:avLst>
          </a:prstGeom>
          <a:solidFill>
            <a:srgbClr val="FFB74D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889504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2935224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 + Chaining cho bài toán phức tạp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914400" cy="502920"/>
          </a:xfrm>
          <a:prstGeom prst="rect">
            <a:avLst>
              <a:gd name="adj" fmla="val 18182"/>
            </a:avLst>
          </a:prstGeom>
          <a:solidFill>
            <a:srgbClr val="EF9A9A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54787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35935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với GenAI: DRY, vectorize, clean code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4206240"/>
            <a:ext cx="914400" cy="502920"/>
          </a:xfrm>
          <a:prstGeom prst="rect">
            <a:avLst>
              <a:gd name="adj" fmla="val 18182"/>
            </a:avLst>
          </a:prstGeom>
          <a:solidFill>
            <a:srgbClr val="CE93D8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2062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425196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khi few-shot không đủ (dự án lớn)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Phần 2: LLM Prompting cho GenAI Coding</dc:title>
  <dc:subject>PptxGenJS Presentation</dc:subject>
  <dc:creator>PptxGenJS</dc:creator>
  <cp:lastModifiedBy>PptxGenJS</cp:lastModifiedBy>
  <cp:revision>1</cp:revision>
  <dcterms:created xsi:type="dcterms:W3CDTF">2026-03-16T07:12:24Z</dcterms:created>
  <dcterms:modified xsi:type="dcterms:W3CDTF">2026-03-16T07:12:24Z</dcterms:modified>
</cp:coreProperties>
</file>